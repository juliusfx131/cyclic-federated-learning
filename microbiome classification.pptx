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</p:sldIdLst>
  <p:sldSz cx="18288000" cy="10287000"/>
  <p:notesSz cx="6858000" cy="9144000"/>
  <p:embeddedFontLst>
    <p:embeddedFont>
      <p:font typeface="Poppins" panose="00000500000000000000" pitchFamily="2" charset="0"/>
      <p:regular r:id="rId13"/>
    </p:embeddedFont>
    <p:embeddedFont>
      <p:font typeface="Poppins Bold" panose="00000800000000000000" charset="0"/>
      <p:regular r:id="rId14"/>
    </p:embeddedFont>
    <p:embeddedFont>
      <p:font typeface="Poppins Italics" panose="020B0604020202020204" charset="0"/>
      <p:regular r:id="rId15"/>
    </p:embeddedFont>
    <p:embeddedFont>
      <p:font typeface="Poppins Light" panose="00000400000000000000" pitchFamily="2" charset="0"/>
      <p:regular r:id="rId16"/>
    </p:embeddedFont>
    <p:embeddedFont>
      <p:font typeface="Poppins Light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9308" y="-91701"/>
            <a:ext cx="6909502" cy="10470401"/>
          </a:xfrm>
          <a:custGeom>
            <a:avLst/>
            <a:gdLst/>
            <a:ahLst/>
            <a:cxnLst/>
            <a:rect l="l" t="t" r="r" b="b"/>
            <a:pathLst>
              <a:path w="6909502" h="10470401">
                <a:moveTo>
                  <a:pt x="0" y="0"/>
                </a:moveTo>
                <a:lnTo>
                  <a:pt x="6909502" y="0"/>
                </a:lnTo>
                <a:lnTo>
                  <a:pt x="6909502" y="10470402"/>
                </a:lnTo>
                <a:lnTo>
                  <a:pt x="0" y="1047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27" r="-6512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4" name="AutoShape 4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888810" y="4014682"/>
            <a:ext cx="10399190" cy="4192336"/>
            <a:chOff x="0" y="0"/>
            <a:chExt cx="13865587" cy="5589782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3865587" cy="4391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2210"/>
                </a:lnSpc>
              </a:pPr>
              <a:r>
                <a:rPr lang="en-US" sz="11100" b="1" spc="-11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Metagenomic</a:t>
              </a:r>
            </a:p>
            <a:p>
              <a:pPr algn="r">
                <a:lnSpc>
                  <a:spcPts val="12650"/>
                </a:lnSpc>
              </a:pPr>
              <a:r>
                <a:rPr lang="en-US" sz="11500" b="1" spc="-115">
                  <a:solidFill>
                    <a:srgbClr val="DD211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9820" y="4862336"/>
              <a:ext cx="12465766" cy="727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479"/>
                </a:lnSpc>
              </a:pPr>
              <a:r>
                <a:rPr lang="en-US" sz="3199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An Emerging Healthcare Trend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73722" y="8826675"/>
            <a:ext cx="485578" cy="431625"/>
            <a:chOff x="0" y="0"/>
            <a:chExt cx="647437" cy="575500"/>
          </a:xfrm>
        </p:grpSpPr>
        <p:sp>
          <p:nvSpPr>
            <p:cNvPr id="10" name="AutoShape 10"/>
            <p:cNvSpPr/>
            <p:nvPr/>
          </p:nvSpPr>
          <p:spPr>
            <a:xfrm>
              <a:off x="0" y="0"/>
              <a:ext cx="647437" cy="575500"/>
            </a:xfrm>
            <a:prstGeom prst="rect">
              <a:avLst/>
            </a:prstGeom>
            <a:solidFill>
              <a:srgbClr val="DD211D"/>
            </a:solidFill>
          </p:spPr>
        </p:sp>
        <p:grpSp>
          <p:nvGrpSpPr>
            <p:cNvPr id="11" name="Group 11"/>
            <p:cNvGrpSpPr/>
            <p:nvPr/>
          </p:nvGrpSpPr>
          <p:grpSpPr>
            <a:xfrm>
              <a:off x="0" y="171992"/>
              <a:ext cx="517352" cy="231517"/>
              <a:chOff x="0" y="0"/>
              <a:chExt cx="959235" cy="4292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-5080"/>
                <a:ext cx="95923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959235" h="434340">
                    <a:moveTo>
                      <a:pt x="941455" y="187960"/>
                    </a:moveTo>
                    <a:lnTo>
                      <a:pt x="679835" y="11430"/>
                    </a:lnTo>
                    <a:cubicBezTo>
                      <a:pt x="662055" y="0"/>
                      <a:pt x="639195" y="3810"/>
                      <a:pt x="626495" y="21590"/>
                    </a:cubicBezTo>
                    <a:cubicBezTo>
                      <a:pt x="615065" y="39370"/>
                      <a:pt x="618875" y="62230"/>
                      <a:pt x="636655" y="74930"/>
                    </a:cubicBezTo>
                    <a:lnTo>
                      <a:pt x="795405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795405" y="257810"/>
                    </a:lnTo>
                    <a:lnTo>
                      <a:pt x="636655" y="364490"/>
                    </a:lnTo>
                    <a:cubicBezTo>
                      <a:pt x="618875" y="375920"/>
                      <a:pt x="615065" y="400050"/>
                      <a:pt x="626495" y="417830"/>
                    </a:cubicBezTo>
                    <a:cubicBezTo>
                      <a:pt x="634115" y="429260"/>
                      <a:pt x="645545" y="434340"/>
                      <a:pt x="658245" y="434340"/>
                    </a:cubicBezTo>
                    <a:cubicBezTo>
                      <a:pt x="665865" y="434340"/>
                      <a:pt x="673485" y="431800"/>
                      <a:pt x="679835" y="427990"/>
                    </a:cubicBezTo>
                    <a:lnTo>
                      <a:pt x="942725" y="251460"/>
                    </a:lnTo>
                    <a:cubicBezTo>
                      <a:pt x="952885" y="243840"/>
                      <a:pt x="959235" y="232410"/>
                      <a:pt x="959235" y="219710"/>
                    </a:cubicBezTo>
                    <a:cubicBezTo>
                      <a:pt x="959235" y="207010"/>
                      <a:pt x="952885" y="195580"/>
                      <a:pt x="941455" y="187960"/>
                    </a:cubicBezTo>
                    <a:close/>
                  </a:path>
                </a:pathLst>
              </a:custGeom>
              <a:solidFill>
                <a:srgbClr val="FDFCFC"/>
              </a:solidFill>
            </p:spPr>
          </p:sp>
        </p:grpSp>
      </p:grpSp>
      <p:sp>
        <p:nvSpPr>
          <p:cNvPr id="13" name="TextBox 13"/>
          <p:cNvSpPr txBox="1"/>
          <p:nvPr/>
        </p:nvSpPr>
        <p:spPr>
          <a:xfrm>
            <a:off x="10829726" y="971550"/>
            <a:ext cx="6439299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spc="315">
                <a:solidFill>
                  <a:srgbClr val="141414"/>
                </a:solidFill>
                <a:latin typeface="Poppins Bold"/>
                <a:ea typeface="Poppins Bold"/>
                <a:cs typeface="Poppins Bold"/>
                <a:sym typeface="Poppins Bold"/>
              </a:rPr>
              <a:t>JULIUS M.</a:t>
            </a:r>
          </a:p>
          <a:p>
            <a:pPr algn="r">
              <a:lnSpc>
                <a:spcPts val="2940"/>
              </a:lnSpc>
            </a:pPr>
            <a:r>
              <a:rPr lang="en-US" sz="2100" b="1" spc="315">
                <a:solidFill>
                  <a:srgbClr val="141414"/>
                </a:solidFill>
                <a:latin typeface="Poppins Bold"/>
                <a:ea typeface="Poppins Bold"/>
                <a:cs typeface="Poppins Bold"/>
                <a:sym typeface="Poppins Bold"/>
              </a:rPr>
              <a:t>FREELANCE DATA SCIENTIST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703" b="-18703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solidFill>
            <a:srgbClr val="FDFCFC"/>
          </a:solidFill>
        </p:spPr>
      </p:sp>
      <p:grpSp>
        <p:nvGrpSpPr>
          <p:cNvPr id="4" name="Group 4"/>
          <p:cNvGrpSpPr/>
          <p:nvPr/>
        </p:nvGrpSpPr>
        <p:grpSpPr>
          <a:xfrm>
            <a:off x="3440027" y="922067"/>
            <a:ext cx="12467303" cy="8442865"/>
            <a:chOff x="0" y="0"/>
            <a:chExt cx="16623071" cy="11257153"/>
          </a:xfrm>
        </p:grpSpPr>
        <p:sp>
          <p:nvSpPr>
            <p:cNvPr id="5" name="TextBox 5"/>
            <p:cNvSpPr txBox="1"/>
            <p:nvPr/>
          </p:nvSpPr>
          <p:spPr>
            <a:xfrm>
              <a:off x="0" y="-104775"/>
              <a:ext cx="16623071" cy="9868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80"/>
                </a:lnSpc>
              </a:pPr>
              <a:r>
                <a:rPr lang="en-US" sz="5599" i="1" spc="55">
                  <a:solidFill>
                    <a:srgbClr val="FDFCFC"/>
                  </a:solidFill>
                  <a:latin typeface="Poppins Light Italics"/>
                  <a:ea typeface="Poppins Light Italics"/>
                  <a:cs typeface="Poppins Light Italics"/>
                  <a:sym typeface="Poppins Light Italics"/>
                </a:rPr>
                <a:t>Build a ML model to predict the body site origin of microbiome samples (gut, oral, skin, nasal) using 16S rRNA metagenomic data encoded in MPEG-G format, advancing microbiome-based health insights and bioinformatics compression standards.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110430" y="10605458"/>
              <a:ext cx="10402210" cy="65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DFCF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Mission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8" name="AutoShape 8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9" name="AutoShape 9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05607" y="2684752"/>
            <a:ext cx="6286896" cy="223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141414"/>
                </a:solidFill>
                <a:latin typeface="Poppins Bold"/>
                <a:ea typeface="Poppins Bold"/>
                <a:cs typeface="Poppins Bold"/>
                <a:sym typeface="Poppins Bold"/>
              </a:rPr>
              <a:t>Our </a:t>
            </a:r>
            <a:r>
              <a:rPr lang="en-US" sz="7200" b="1">
                <a:solidFill>
                  <a:srgbClr val="DD211D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  <a:r>
              <a:rPr lang="en-US" sz="7200" b="1">
                <a:solidFill>
                  <a:srgbClr val="14141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141414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81492" y="1309369"/>
            <a:ext cx="10617949" cy="6240065"/>
            <a:chOff x="0" y="0"/>
            <a:chExt cx="14157265" cy="8320087"/>
          </a:xfrm>
        </p:grpSpPr>
        <p:sp>
          <p:nvSpPr>
            <p:cNvPr id="4" name="TextBox 4"/>
            <p:cNvSpPr txBox="1"/>
            <p:nvPr/>
          </p:nvSpPr>
          <p:spPr>
            <a:xfrm>
              <a:off x="7" y="-123825"/>
              <a:ext cx="14157259" cy="9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8"/>
                </a:lnSpc>
              </a:pPr>
              <a:r>
                <a:rPr lang="en-US" sz="422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Decompression &amp; Extracting Features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72840"/>
              <a:ext cx="14157259" cy="71472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84"/>
                </a:lnSpc>
              </a:pPr>
              <a:r>
                <a:rPr lang="en-US" sz="4056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 </a:t>
              </a:r>
              <a:r>
                <a:rPr lang="en-US" sz="4056" i="1">
                  <a:solidFill>
                    <a:srgbClr val="141414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About 20gb</a:t>
              </a:r>
              <a:r>
                <a:rPr lang="en-US" sz="4056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of compressed data in MPEG  format is provided</a:t>
              </a:r>
            </a:p>
            <a:p>
              <a:pPr algn="l">
                <a:lnSpc>
                  <a:spcPts val="6084"/>
                </a:lnSpc>
              </a:pPr>
              <a:r>
                <a:rPr lang="en-US" sz="4056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-Used </a:t>
              </a:r>
              <a:r>
                <a:rPr lang="en-US" sz="4056" i="1">
                  <a:solidFill>
                    <a:srgbClr val="141414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Genie Docker</a:t>
              </a:r>
              <a:r>
                <a:rPr lang="en-US" sz="4056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Image to </a:t>
              </a:r>
              <a:r>
                <a:rPr lang="en-US" sz="4056" i="1">
                  <a:solidFill>
                    <a:srgbClr val="141414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decompress </a:t>
              </a:r>
              <a:r>
                <a:rPr lang="en-US" sz="4056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files to </a:t>
              </a:r>
              <a:r>
                <a:rPr lang="en-US" sz="4056" i="1">
                  <a:solidFill>
                    <a:srgbClr val="141414"/>
                  </a:solidFill>
                  <a:latin typeface="Poppins Light Italics"/>
                  <a:ea typeface="Poppins Light Italics"/>
                  <a:cs typeface="Poppins Light Italics"/>
                  <a:sym typeface="Poppins Light Italics"/>
                </a:rPr>
                <a:t>.fastq</a:t>
              </a:r>
              <a:r>
                <a:rPr lang="en-US" sz="4056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format.</a:t>
              </a:r>
            </a:p>
            <a:p>
              <a:pPr algn="l">
                <a:lnSpc>
                  <a:spcPts val="6084"/>
                </a:lnSpc>
              </a:pPr>
              <a:r>
                <a:rPr lang="en-US" sz="4056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 Ended up with </a:t>
              </a:r>
              <a:r>
                <a:rPr lang="en-US" sz="4056" i="1">
                  <a:solidFill>
                    <a:srgbClr val="141414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over  200gb</a:t>
              </a:r>
              <a:r>
                <a:rPr lang="en-US" sz="4056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of data!</a:t>
              </a:r>
            </a:p>
            <a:p>
              <a:pPr algn="l">
                <a:lnSpc>
                  <a:spcPts val="6084"/>
                </a:lnSpc>
              </a:pPr>
              <a:r>
                <a:rPr lang="en-US" sz="4056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-This process took roughly an hour on my local desktop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7" name="AutoShape 7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8" name="AutoShape 8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773722" y="8826675"/>
            <a:ext cx="485578" cy="431625"/>
            <a:chOff x="0" y="0"/>
            <a:chExt cx="647437" cy="575500"/>
          </a:xfrm>
        </p:grpSpPr>
        <p:sp>
          <p:nvSpPr>
            <p:cNvPr id="10" name="AutoShape 10"/>
            <p:cNvSpPr/>
            <p:nvPr/>
          </p:nvSpPr>
          <p:spPr>
            <a:xfrm>
              <a:off x="0" y="0"/>
              <a:ext cx="647437" cy="575500"/>
            </a:xfrm>
            <a:prstGeom prst="rect">
              <a:avLst/>
            </a:prstGeom>
            <a:solidFill>
              <a:srgbClr val="DD211D"/>
            </a:solidFill>
          </p:spPr>
        </p:sp>
        <p:grpSp>
          <p:nvGrpSpPr>
            <p:cNvPr id="11" name="Group 11"/>
            <p:cNvGrpSpPr/>
            <p:nvPr/>
          </p:nvGrpSpPr>
          <p:grpSpPr>
            <a:xfrm>
              <a:off x="0" y="171992"/>
              <a:ext cx="517352" cy="231517"/>
              <a:chOff x="0" y="0"/>
              <a:chExt cx="959235" cy="4292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-5080"/>
                <a:ext cx="95923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959235" h="434340">
                    <a:moveTo>
                      <a:pt x="941455" y="187960"/>
                    </a:moveTo>
                    <a:lnTo>
                      <a:pt x="679835" y="11430"/>
                    </a:lnTo>
                    <a:cubicBezTo>
                      <a:pt x="662055" y="0"/>
                      <a:pt x="639195" y="3810"/>
                      <a:pt x="626495" y="21590"/>
                    </a:cubicBezTo>
                    <a:cubicBezTo>
                      <a:pt x="615065" y="39370"/>
                      <a:pt x="618875" y="62230"/>
                      <a:pt x="636655" y="74930"/>
                    </a:cubicBezTo>
                    <a:lnTo>
                      <a:pt x="795405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795405" y="257810"/>
                    </a:lnTo>
                    <a:lnTo>
                      <a:pt x="636655" y="364490"/>
                    </a:lnTo>
                    <a:cubicBezTo>
                      <a:pt x="618875" y="375920"/>
                      <a:pt x="615065" y="400050"/>
                      <a:pt x="626495" y="417830"/>
                    </a:cubicBezTo>
                    <a:cubicBezTo>
                      <a:pt x="634115" y="429260"/>
                      <a:pt x="645545" y="434340"/>
                      <a:pt x="658245" y="434340"/>
                    </a:cubicBezTo>
                    <a:cubicBezTo>
                      <a:pt x="665865" y="434340"/>
                      <a:pt x="673485" y="431800"/>
                      <a:pt x="679835" y="427990"/>
                    </a:cubicBezTo>
                    <a:lnTo>
                      <a:pt x="942725" y="251460"/>
                    </a:lnTo>
                    <a:cubicBezTo>
                      <a:pt x="952885" y="243840"/>
                      <a:pt x="959235" y="232410"/>
                      <a:pt x="959235" y="219710"/>
                    </a:cubicBezTo>
                    <a:cubicBezTo>
                      <a:pt x="959235" y="207010"/>
                      <a:pt x="952885" y="195580"/>
                      <a:pt x="941455" y="187960"/>
                    </a:cubicBezTo>
                    <a:close/>
                  </a:path>
                </a:pathLst>
              </a:custGeom>
              <a:solidFill>
                <a:srgbClr val="FDFCFC"/>
              </a:solidFill>
            </p:spPr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2650" y="0"/>
            <a:ext cx="4107638" cy="6781800"/>
          </a:xfrm>
          <a:custGeom>
            <a:avLst/>
            <a:gdLst/>
            <a:ahLst/>
            <a:cxnLst/>
            <a:rect l="l" t="t" r="r" b="b"/>
            <a:pathLst>
              <a:path w="4107638" h="6781800">
                <a:moveTo>
                  <a:pt x="0" y="0"/>
                </a:moveTo>
                <a:lnTo>
                  <a:pt x="4107639" y="0"/>
                </a:lnTo>
                <a:lnTo>
                  <a:pt x="4107639" y="6781800"/>
                </a:lnTo>
                <a:lnTo>
                  <a:pt x="0" y="6781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455" t="-3651" r="-724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35350" y="6972300"/>
            <a:ext cx="9174938" cy="3505200"/>
          </a:xfrm>
          <a:custGeom>
            <a:avLst/>
            <a:gdLst/>
            <a:ahLst/>
            <a:cxnLst/>
            <a:rect l="l" t="t" r="r" b="b"/>
            <a:pathLst>
              <a:path w="9174938" h="3505200">
                <a:moveTo>
                  <a:pt x="0" y="0"/>
                </a:moveTo>
                <a:lnTo>
                  <a:pt x="9174939" y="0"/>
                </a:lnTo>
                <a:lnTo>
                  <a:pt x="9174939" y="3505200"/>
                </a:lnTo>
                <a:lnTo>
                  <a:pt x="0" y="350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7850" b="-3785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5350" y="6972300"/>
            <a:ext cx="4549500" cy="3524250"/>
          </a:xfrm>
          <a:custGeom>
            <a:avLst/>
            <a:gdLst/>
            <a:ahLst/>
            <a:cxnLst/>
            <a:rect l="l" t="t" r="r" b="b"/>
            <a:pathLst>
              <a:path w="4549500" h="3524250">
                <a:moveTo>
                  <a:pt x="0" y="0"/>
                </a:moveTo>
                <a:lnTo>
                  <a:pt x="4549500" y="0"/>
                </a:lnTo>
                <a:lnTo>
                  <a:pt x="4549500" y="3524250"/>
                </a:lnTo>
                <a:lnTo>
                  <a:pt x="0" y="3524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25" r="-802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00789" y="-171450"/>
            <a:ext cx="3478988" cy="4972050"/>
          </a:xfrm>
          <a:custGeom>
            <a:avLst/>
            <a:gdLst/>
            <a:ahLst/>
            <a:cxnLst/>
            <a:rect l="l" t="t" r="r" b="b"/>
            <a:pathLst>
              <a:path w="3478988" h="4972050">
                <a:moveTo>
                  <a:pt x="0" y="0"/>
                </a:moveTo>
                <a:lnTo>
                  <a:pt x="3478988" y="0"/>
                </a:lnTo>
                <a:lnTo>
                  <a:pt x="3478988" y="4972050"/>
                </a:lnTo>
                <a:lnTo>
                  <a:pt x="0" y="49720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7053" r="-5705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00789" y="4991100"/>
            <a:ext cx="3517088" cy="5486400"/>
          </a:xfrm>
          <a:custGeom>
            <a:avLst/>
            <a:gdLst/>
            <a:ahLst/>
            <a:cxnLst/>
            <a:rect l="l" t="t" r="r" b="b"/>
            <a:pathLst>
              <a:path w="3517088" h="5486400">
                <a:moveTo>
                  <a:pt x="0" y="0"/>
                </a:moveTo>
                <a:lnTo>
                  <a:pt x="3517088" y="0"/>
                </a:lnTo>
                <a:lnTo>
                  <a:pt x="3517088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52" r="-245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581492" y="38824"/>
            <a:ext cx="6107718" cy="6933476"/>
            <a:chOff x="0" y="0"/>
            <a:chExt cx="8143624" cy="9244635"/>
          </a:xfrm>
        </p:grpSpPr>
        <p:sp>
          <p:nvSpPr>
            <p:cNvPr id="8" name="TextBox 8"/>
            <p:cNvSpPr txBox="1"/>
            <p:nvPr/>
          </p:nvSpPr>
          <p:spPr>
            <a:xfrm>
              <a:off x="0" y="900100"/>
              <a:ext cx="8143624" cy="8344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799">
                  <a:solidFill>
                    <a:srgbClr val="FDFCF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Extracted 94 features from FASTQ files—covering read statistics, GC content, sequence complexity, quality scores, and k-mer frequencies—to capture both biological composition and sequencing quality for robust microbiome classification modeling.</a:t>
              </a:r>
            </a:p>
            <a:p>
              <a:pPr algn="l">
                <a:lnSpc>
                  <a:spcPts val="4199"/>
                </a:lnSpc>
              </a:pPr>
              <a:endParaRPr lang="en-US" sz="2799">
                <a:solidFill>
                  <a:srgbClr val="FDFCFC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algn="l">
                <a:lnSpc>
                  <a:spcPts val="4199"/>
                </a:lnSpc>
              </a:pPr>
              <a:r>
                <a:rPr lang="en-US" sz="2799">
                  <a:solidFill>
                    <a:srgbClr val="FDFCF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-This took about 4hrs for train, 2hrs for test set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04775"/>
              <a:ext cx="8143624" cy="7897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 b="1">
                  <a:solidFill>
                    <a:srgbClr val="FDFC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Feature Extraction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solidFill>
            <a:srgbClr val="FDFCFC"/>
          </a:solidFill>
        </p:spPr>
      </p:sp>
      <p:grpSp>
        <p:nvGrpSpPr>
          <p:cNvPr id="11" name="Group 11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12" name="AutoShape 12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66800"/>
            <a:ext cx="6214323" cy="8191500"/>
          </a:xfrm>
          <a:custGeom>
            <a:avLst/>
            <a:gdLst/>
            <a:ahLst/>
            <a:cxnLst/>
            <a:rect l="l" t="t" r="r" b="b"/>
            <a:pathLst>
              <a:path w="6214323" h="8191500">
                <a:moveTo>
                  <a:pt x="0" y="0"/>
                </a:moveTo>
                <a:lnTo>
                  <a:pt x="6214323" y="0"/>
                </a:lnTo>
                <a:lnTo>
                  <a:pt x="6214323" y="8191500"/>
                </a:lnTo>
                <a:lnTo>
                  <a:pt x="0" y="819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26" b="-68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462240" y="1067073"/>
            <a:ext cx="8797060" cy="7991658"/>
            <a:chOff x="0" y="0"/>
            <a:chExt cx="11729414" cy="10655544"/>
          </a:xfrm>
        </p:grpSpPr>
        <p:sp>
          <p:nvSpPr>
            <p:cNvPr id="4" name="TextBox 4"/>
            <p:cNvSpPr txBox="1"/>
            <p:nvPr/>
          </p:nvSpPr>
          <p:spPr>
            <a:xfrm>
              <a:off x="10" y="-66675"/>
              <a:ext cx="11729404" cy="2959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Feature </a:t>
              </a:r>
            </a:p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DD211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Engineering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313397"/>
              <a:ext cx="9595370" cy="680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Adding onto the initial features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586215"/>
              <a:ext cx="9595370" cy="6069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-Derived biologically and statistically meaningful features from initial sequence summaries—capturing </a:t>
              </a:r>
              <a:r>
                <a:rPr lang="en-US" sz="24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nucleotide composition</a:t>
              </a: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, </a:t>
              </a:r>
              <a:r>
                <a:rPr lang="en-US" sz="24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k-mer diversity</a:t>
              </a: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, </a:t>
              </a:r>
              <a:r>
                <a:rPr lang="en-US" sz="24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codon patterns</a:t>
              </a: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, and </a:t>
              </a:r>
              <a:r>
                <a:rPr lang="en-US" sz="24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nonlinear interactions</a:t>
              </a: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—to model sequence variability and improve classification accuracy</a:t>
              </a:r>
            </a:p>
            <a:p>
              <a:pPr algn="l">
                <a:lnSpc>
                  <a:spcPts val="3600"/>
                </a:lnSpc>
              </a:pPr>
              <a:endParaRPr lang="en-US" sz="2400">
                <a:solidFill>
                  <a:srgbClr val="141414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-Total of 117 features used at the end for modelling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8" name="AutoShape 8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9" name="AutoShape 9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6773722" y="8826675"/>
            <a:ext cx="485578" cy="431625"/>
            <a:chOff x="0" y="0"/>
            <a:chExt cx="647437" cy="575500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647437" cy="575500"/>
            </a:xfrm>
            <a:prstGeom prst="rect">
              <a:avLst/>
            </a:prstGeom>
            <a:solidFill>
              <a:srgbClr val="DD211D"/>
            </a:solid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71992"/>
              <a:ext cx="517352" cy="231517"/>
              <a:chOff x="0" y="0"/>
              <a:chExt cx="959235" cy="42926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-5080"/>
                <a:ext cx="95923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959235" h="434340">
                    <a:moveTo>
                      <a:pt x="941455" y="187960"/>
                    </a:moveTo>
                    <a:lnTo>
                      <a:pt x="679835" y="11430"/>
                    </a:lnTo>
                    <a:cubicBezTo>
                      <a:pt x="662055" y="0"/>
                      <a:pt x="639195" y="3810"/>
                      <a:pt x="626495" y="21590"/>
                    </a:cubicBezTo>
                    <a:cubicBezTo>
                      <a:pt x="615065" y="39370"/>
                      <a:pt x="618875" y="62230"/>
                      <a:pt x="636655" y="74930"/>
                    </a:cubicBezTo>
                    <a:lnTo>
                      <a:pt x="795405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795405" y="257810"/>
                    </a:lnTo>
                    <a:lnTo>
                      <a:pt x="636655" y="364490"/>
                    </a:lnTo>
                    <a:cubicBezTo>
                      <a:pt x="618875" y="375920"/>
                      <a:pt x="615065" y="400050"/>
                      <a:pt x="626495" y="417830"/>
                    </a:cubicBezTo>
                    <a:cubicBezTo>
                      <a:pt x="634115" y="429260"/>
                      <a:pt x="645545" y="434340"/>
                      <a:pt x="658245" y="434340"/>
                    </a:cubicBezTo>
                    <a:cubicBezTo>
                      <a:pt x="665865" y="434340"/>
                      <a:pt x="673485" y="431800"/>
                      <a:pt x="679835" y="427990"/>
                    </a:cubicBezTo>
                    <a:lnTo>
                      <a:pt x="942725" y="251460"/>
                    </a:lnTo>
                    <a:cubicBezTo>
                      <a:pt x="952885" y="243840"/>
                      <a:pt x="959235" y="232410"/>
                      <a:pt x="959235" y="219710"/>
                    </a:cubicBezTo>
                    <a:cubicBezTo>
                      <a:pt x="959235" y="207010"/>
                      <a:pt x="952885" y="195580"/>
                      <a:pt x="941455" y="187960"/>
                    </a:cubicBezTo>
                    <a:close/>
                  </a:path>
                </a:pathLst>
              </a:custGeom>
              <a:solidFill>
                <a:srgbClr val="FDFCFC"/>
              </a:solidFill>
            </p:spPr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0"/>
            <a:ext cx="7507058" cy="10287000"/>
          </a:xfrm>
          <a:custGeom>
            <a:avLst/>
            <a:gdLst/>
            <a:ahLst/>
            <a:cxnLst/>
            <a:rect l="l" t="t" r="r" b="b"/>
            <a:pathLst>
              <a:path w="7507058" h="10287000">
                <a:moveTo>
                  <a:pt x="0" y="0"/>
                </a:moveTo>
                <a:lnTo>
                  <a:pt x="7507058" y="0"/>
                </a:lnTo>
                <a:lnTo>
                  <a:pt x="75070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93" r="-3869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606348" y="-66675"/>
            <a:ext cx="6953646" cy="223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141414"/>
                </a:solidFill>
                <a:latin typeface="Poppins Bold"/>
                <a:ea typeface="Poppins Bold"/>
                <a:cs typeface="Poppins Bold"/>
                <a:sym typeface="Poppins Bold"/>
              </a:rPr>
              <a:t>Centra</a:t>
            </a:r>
            <a:r>
              <a:rPr lang="en-US" sz="7200" b="1">
                <a:solidFill>
                  <a:srgbClr val="DD211D"/>
                </a:solidFill>
                <a:latin typeface="Poppins Bold"/>
                <a:ea typeface="Poppins Bold"/>
                <a:cs typeface="Poppins Bold"/>
                <a:sym typeface="Poppins Bold"/>
              </a:rPr>
              <a:t>lized</a:t>
            </a:r>
            <a:r>
              <a:rPr lang="en-US" sz="7200" b="1">
                <a:solidFill>
                  <a:srgbClr val="141414"/>
                </a:solidFill>
                <a:latin typeface="Poppins Bold"/>
                <a:ea typeface="Poppins Bold"/>
                <a:cs typeface="Poppins Bold"/>
                <a:sym typeface="Poppins Bold"/>
              </a:rPr>
              <a:t> Modelling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828758" y="2134889"/>
            <a:ext cx="7731236" cy="7123411"/>
            <a:chOff x="0" y="0"/>
            <a:chExt cx="10308315" cy="9497881"/>
          </a:xfrm>
        </p:grpSpPr>
        <p:sp>
          <p:nvSpPr>
            <p:cNvPr id="5" name="TextBox 5"/>
            <p:cNvSpPr txBox="1"/>
            <p:nvPr/>
          </p:nvSpPr>
          <p:spPr>
            <a:xfrm>
              <a:off x="0" y="-85725"/>
              <a:ext cx="10308315" cy="65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DD211D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Tuning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835632"/>
              <a:ext cx="10308315" cy="65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DD211D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Training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73204"/>
              <a:ext cx="10308315" cy="3169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Used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Optuna 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with Stratified 10-Fold Cross-Validation to minimize log loss and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optimize 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key XGBoost parameters </a:t>
              </a:r>
              <a:r>
                <a:rPr lang="en-US" sz="2100" i="1">
                  <a:solidFill>
                    <a:srgbClr val="141414"/>
                  </a:solidFill>
                  <a:latin typeface="Poppins Light Italics"/>
                  <a:ea typeface="Poppins Light Italics"/>
                  <a:cs typeface="Poppins Light Italics"/>
                  <a:sym typeface="Poppins Light Italics"/>
                </a:rPr>
                <a:t>(learning_rate, max_depth, subsample, colsample_bytree, min_child_weight).</a:t>
              </a:r>
            </a:p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This systematic search improved model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generalization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and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stability 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across folds.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794561"/>
              <a:ext cx="10308315" cy="3703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Trained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XGBoost 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using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10-fold Stratified Cross-Validation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with previously tuned hyperparameters.</a:t>
              </a:r>
            </a:p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Used out-of-fold (OOF) predictions to estimate unbiased performance and compute overall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CV log loss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.</a:t>
              </a:r>
            </a:p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Tracked energy consumption using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EmissionsTracker 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for sustainable model development.</a:t>
              </a:r>
            </a:p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-The Average CV was around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0.03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10" name="AutoShape 10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11" name="AutoShape 11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2925" y="798851"/>
            <a:ext cx="14002146" cy="8689299"/>
            <a:chOff x="0" y="0"/>
            <a:chExt cx="18669528" cy="11585732"/>
          </a:xfrm>
        </p:grpSpPr>
        <p:sp>
          <p:nvSpPr>
            <p:cNvPr id="3" name="TextBox 3"/>
            <p:cNvSpPr txBox="1"/>
            <p:nvPr/>
          </p:nvSpPr>
          <p:spPr>
            <a:xfrm>
              <a:off x="1906317" y="2825828"/>
              <a:ext cx="13732895" cy="65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DD211D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All Folds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906317" y="3655323"/>
              <a:ext cx="13732895" cy="1036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Used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all trained XGBoost folds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to generate test predictions.</a:t>
              </a:r>
            </a:p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906317" y="5472772"/>
              <a:ext cx="13732895" cy="65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DD211D"/>
                  </a:solidFill>
                  <a:latin typeface="Poppins"/>
                  <a:ea typeface="Poppins"/>
                  <a:cs typeface="Poppins"/>
                  <a:sym typeface="Poppins"/>
                </a:rPr>
                <a:t>Ensembling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06317" y="6302268"/>
              <a:ext cx="13732895" cy="1036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Each model produced class probabilities, which were ensembled via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geometric 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mean for robustness.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06317" y="8119716"/>
              <a:ext cx="13732895" cy="65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DD211D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Generating Submission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06317" y="8949212"/>
              <a:ext cx="13732895" cy="2636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Final class labels were obtained from the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highest averaged probability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and exported as a structured CSV with per-sample probabilities.</a:t>
              </a:r>
            </a:p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-CV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0.038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, Public Leaderboard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0.0037</a:t>
              </a:r>
              <a:r>
                <a:rPr lang="en-US" sz="21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&amp; Private Leaderboard </a:t>
              </a:r>
              <a:r>
                <a:rPr lang="en-US" sz="21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0.018 </a:t>
              </a:r>
            </a:p>
            <a:p>
              <a:pPr algn="l">
                <a:lnSpc>
                  <a:spcPts val="3150"/>
                </a:lnSpc>
              </a:pPr>
              <a:endParaRPr lang="en-US" sz="2100" b="1">
                <a:solidFill>
                  <a:srgbClr val="141414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l">
                <a:lnSpc>
                  <a:spcPts val="3150"/>
                </a:lnSpc>
              </a:pPr>
              <a:endParaRPr lang="en-US" sz="2100" b="1">
                <a:solidFill>
                  <a:srgbClr val="141414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8669528" cy="15132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DD211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Inference </a:t>
              </a:r>
              <a:r>
                <a:rPr lang="en-US" sz="7200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 Test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11" name="AutoShape 11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12" name="AutoShape 12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6773722" y="8826675"/>
            <a:ext cx="485578" cy="431625"/>
            <a:chOff x="0" y="0"/>
            <a:chExt cx="647437" cy="575500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647437" cy="575500"/>
            </a:xfrm>
            <a:prstGeom prst="rect">
              <a:avLst/>
            </a:prstGeom>
            <a:solidFill>
              <a:srgbClr val="DD211D"/>
            </a:solidFill>
          </p:spPr>
        </p:sp>
        <p:grpSp>
          <p:nvGrpSpPr>
            <p:cNvPr id="15" name="Group 15"/>
            <p:cNvGrpSpPr/>
            <p:nvPr/>
          </p:nvGrpSpPr>
          <p:grpSpPr>
            <a:xfrm>
              <a:off x="0" y="171992"/>
              <a:ext cx="517352" cy="231517"/>
              <a:chOff x="0" y="0"/>
              <a:chExt cx="959235" cy="4292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-5080"/>
                <a:ext cx="95923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959235" h="434340">
                    <a:moveTo>
                      <a:pt x="941455" y="187960"/>
                    </a:moveTo>
                    <a:lnTo>
                      <a:pt x="679835" y="11430"/>
                    </a:lnTo>
                    <a:cubicBezTo>
                      <a:pt x="662055" y="0"/>
                      <a:pt x="639195" y="3810"/>
                      <a:pt x="626495" y="21590"/>
                    </a:cubicBezTo>
                    <a:cubicBezTo>
                      <a:pt x="615065" y="39370"/>
                      <a:pt x="618875" y="62230"/>
                      <a:pt x="636655" y="74930"/>
                    </a:cubicBezTo>
                    <a:lnTo>
                      <a:pt x="795405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795405" y="257810"/>
                    </a:lnTo>
                    <a:lnTo>
                      <a:pt x="636655" y="364490"/>
                    </a:lnTo>
                    <a:cubicBezTo>
                      <a:pt x="618875" y="375920"/>
                      <a:pt x="615065" y="400050"/>
                      <a:pt x="626495" y="417830"/>
                    </a:cubicBezTo>
                    <a:cubicBezTo>
                      <a:pt x="634115" y="429260"/>
                      <a:pt x="645545" y="434340"/>
                      <a:pt x="658245" y="434340"/>
                    </a:cubicBezTo>
                    <a:cubicBezTo>
                      <a:pt x="665865" y="434340"/>
                      <a:pt x="673485" y="431800"/>
                      <a:pt x="679835" y="427990"/>
                    </a:cubicBezTo>
                    <a:lnTo>
                      <a:pt x="942725" y="251460"/>
                    </a:lnTo>
                    <a:cubicBezTo>
                      <a:pt x="952885" y="243840"/>
                      <a:pt x="959235" y="232410"/>
                      <a:pt x="959235" y="219710"/>
                    </a:cubicBezTo>
                    <a:cubicBezTo>
                      <a:pt x="959235" y="207010"/>
                      <a:pt x="952885" y="195580"/>
                      <a:pt x="941455" y="187960"/>
                    </a:cubicBezTo>
                    <a:close/>
                  </a:path>
                </a:pathLst>
              </a:custGeom>
              <a:solidFill>
                <a:srgbClr val="FDFCFC"/>
              </a:solidFill>
            </p:spPr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3" name="AutoShape 3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497305" y="2841892"/>
            <a:ext cx="9392237" cy="6645008"/>
          </a:xfrm>
          <a:custGeom>
            <a:avLst/>
            <a:gdLst/>
            <a:ahLst/>
            <a:cxnLst/>
            <a:rect l="l" t="t" r="r" b="b"/>
            <a:pathLst>
              <a:path w="9392237" h="6645008">
                <a:moveTo>
                  <a:pt x="0" y="0"/>
                </a:moveTo>
                <a:lnTo>
                  <a:pt x="9392237" y="0"/>
                </a:lnTo>
                <a:lnTo>
                  <a:pt x="9392237" y="6645008"/>
                </a:lnTo>
                <a:lnTo>
                  <a:pt x="0" y="6645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061164" y="5887816"/>
            <a:ext cx="5198136" cy="3076237"/>
            <a:chOff x="0" y="0"/>
            <a:chExt cx="6930848" cy="4101650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6930848" cy="65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 b="1">
                  <a:solidFill>
                    <a:srgbClr val="DD211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Global features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80320"/>
              <a:ext cx="6930848" cy="302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2" lvl="1" indent="-259081" algn="l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141414"/>
                  </a:solidFill>
                  <a:latin typeface="Poppins"/>
                  <a:ea typeface="Poppins"/>
                  <a:cs typeface="Poppins"/>
                  <a:sym typeface="Poppins"/>
                </a:rPr>
                <a:t>Global features</a:t>
              </a: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like </a:t>
              </a:r>
              <a:r>
                <a:rPr lang="en-US" sz="2400" i="1">
                  <a:solidFill>
                    <a:srgbClr val="141414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AT_skew</a:t>
              </a: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and </a:t>
              </a:r>
              <a:r>
                <a:rPr lang="en-US" sz="2400" i="1">
                  <a:solidFill>
                    <a:srgbClr val="141414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CT_freq </a:t>
              </a: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consistently influenced predictions across samples.</a:t>
              </a:r>
            </a:p>
            <a:p>
              <a:pPr algn="l">
                <a:lnSpc>
                  <a:spcPts val="3600"/>
                </a:lnSpc>
              </a:pPr>
              <a:endParaRPr lang="en-US" sz="2400">
                <a:solidFill>
                  <a:srgbClr val="141414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61164" y="2524462"/>
            <a:ext cx="5198136" cy="2619038"/>
            <a:chOff x="0" y="0"/>
            <a:chExt cx="6930848" cy="349205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85725"/>
              <a:ext cx="6930848" cy="65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 b="1">
                  <a:solidFill>
                    <a:srgbClr val="DD211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k-mer frequencies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80320"/>
              <a:ext cx="6930848" cy="2411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Different </a:t>
              </a:r>
              <a:r>
                <a:rPr lang="en-US" sz="2400">
                  <a:solidFill>
                    <a:srgbClr val="141414"/>
                  </a:solidFill>
                  <a:latin typeface="Poppins"/>
                  <a:ea typeface="Poppins"/>
                  <a:cs typeface="Poppins"/>
                  <a:sym typeface="Poppins"/>
                </a:rPr>
                <a:t>k-mer frequencies</a:t>
              </a: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2400" i="1">
                  <a:solidFill>
                    <a:srgbClr val="141414"/>
                  </a:solidFill>
                  <a:latin typeface="Poppins Light Italics"/>
                  <a:ea typeface="Poppins Light Italics"/>
                  <a:cs typeface="Poppins Light Italics"/>
                  <a:sym typeface="Poppins Light Italics"/>
                </a:rPr>
                <a:t>(e.g., TCT, ATT, CTC</a:t>
              </a:r>
              <a:r>
                <a:rPr lang="en-US" sz="2400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) dominate per class, showing biologically meaningful sequence motifs.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81381" y="284302"/>
            <a:ext cx="13181887" cy="2442994"/>
            <a:chOff x="0" y="0"/>
            <a:chExt cx="17575850" cy="3257325"/>
          </a:xfrm>
        </p:grpSpPr>
        <p:sp>
          <p:nvSpPr>
            <p:cNvPr id="13" name="TextBox 13"/>
            <p:cNvSpPr txBox="1"/>
            <p:nvPr/>
          </p:nvSpPr>
          <p:spPr>
            <a:xfrm>
              <a:off x="6" y="-66675"/>
              <a:ext cx="17575844" cy="15132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39"/>
                </a:lnSpc>
              </a:pPr>
              <a:r>
                <a:rPr lang="en-US" sz="7199" b="1">
                  <a:solidFill>
                    <a:srgbClr val="DD211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Discussion </a:t>
              </a:r>
              <a:r>
                <a:rPr lang="en-US" sz="7199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of Results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880169"/>
              <a:ext cx="17575850" cy="13771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141414"/>
                  </a:solidFill>
                  <a:latin typeface="Poppins"/>
                  <a:ea typeface="Poppins"/>
                  <a:cs typeface="Poppins"/>
                  <a:sym typeface="Poppins"/>
                </a:rPr>
                <a:t>SHAP analysis revealed distinct k-mer and compositional patterns driving predictions for each body site.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0173" y="497523"/>
            <a:ext cx="11811400" cy="957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600" i="1" spc="56">
                <a:solidFill>
                  <a:srgbClr val="141414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Cyclic </a:t>
            </a:r>
            <a:r>
              <a:rPr lang="en-US" sz="5600" i="1" spc="56">
                <a:solidFill>
                  <a:srgbClr val="DD211D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Federated Learning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4" name="AutoShape 4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836121" y="3167904"/>
            <a:ext cx="7592418" cy="6090396"/>
            <a:chOff x="0" y="0"/>
            <a:chExt cx="30014827" cy="240769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014828" cy="24076938"/>
            </a:xfrm>
            <a:custGeom>
              <a:avLst/>
              <a:gdLst/>
              <a:ahLst/>
              <a:cxnLst/>
              <a:rect l="l" t="t" r="r" b="b"/>
              <a:pathLst>
                <a:path w="30014828" h="24076938">
                  <a:moveTo>
                    <a:pt x="0" y="0"/>
                  </a:moveTo>
                  <a:lnTo>
                    <a:pt x="0" y="24076938"/>
                  </a:lnTo>
                  <a:lnTo>
                    <a:pt x="30014828" y="24076938"/>
                  </a:lnTo>
                  <a:lnTo>
                    <a:pt x="30014828" y="0"/>
                  </a:lnTo>
                  <a:lnTo>
                    <a:pt x="0" y="0"/>
                  </a:lnTo>
                  <a:close/>
                  <a:moveTo>
                    <a:pt x="29953868" y="24015979"/>
                  </a:moveTo>
                  <a:lnTo>
                    <a:pt x="59690" y="24015979"/>
                  </a:lnTo>
                  <a:lnTo>
                    <a:pt x="59690" y="59690"/>
                  </a:lnTo>
                  <a:lnTo>
                    <a:pt x="29953868" y="59690"/>
                  </a:lnTo>
                  <a:lnTo>
                    <a:pt x="29953868" y="24015979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352072" y="6815036"/>
            <a:ext cx="388014" cy="173637"/>
            <a:chOff x="0" y="0"/>
            <a:chExt cx="959235" cy="429260"/>
          </a:xfrm>
        </p:grpSpPr>
        <p:sp>
          <p:nvSpPr>
            <p:cNvPr id="9" name="Freeform 9"/>
            <p:cNvSpPr/>
            <p:nvPr/>
          </p:nvSpPr>
          <p:spPr>
            <a:xfrm>
              <a:off x="0" y="-5080"/>
              <a:ext cx="959235" cy="434340"/>
            </a:xfrm>
            <a:custGeom>
              <a:avLst/>
              <a:gdLst/>
              <a:ahLst/>
              <a:cxnLst/>
              <a:rect l="l" t="t" r="r" b="b"/>
              <a:pathLst>
                <a:path w="959235" h="434340">
                  <a:moveTo>
                    <a:pt x="941455" y="187960"/>
                  </a:moveTo>
                  <a:lnTo>
                    <a:pt x="679835" y="11430"/>
                  </a:lnTo>
                  <a:cubicBezTo>
                    <a:pt x="662055" y="0"/>
                    <a:pt x="639195" y="3810"/>
                    <a:pt x="626495" y="21590"/>
                  </a:cubicBezTo>
                  <a:cubicBezTo>
                    <a:pt x="615065" y="39370"/>
                    <a:pt x="618875" y="62230"/>
                    <a:pt x="636655" y="74930"/>
                  </a:cubicBezTo>
                  <a:lnTo>
                    <a:pt x="795405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795405" y="257810"/>
                  </a:lnTo>
                  <a:lnTo>
                    <a:pt x="636655" y="364490"/>
                  </a:lnTo>
                  <a:cubicBezTo>
                    <a:pt x="618875" y="375920"/>
                    <a:pt x="615065" y="400050"/>
                    <a:pt x="626495" y="417830"/>
                  </a:cubicBezTo>
                  <a:cubicBezTo>
                    <a:pt x="634115" y="429260"/>
                    <a:pt x="645545" y="434340"/>
                    <a:pt x="658245" y="434340"/>
                  </a:cubicBezTo>
                  <a:cubicBezTo>
                    <a:pt x="665865" y="434340"/>
                    <a:pt x="673485" y="431800"/>
                    <a:pt x="679835" y="427990"/>
                  </a:cubicBezTo>
                  <a:lnTo>
                    <a:pt x="942725" y="251460"/>
                  </a:lnTo>
                  <a:cubicBezTo>
                    <a:pt x="952885" y="243840"/>
                    <a:pt x="959235" y="232410"/>
                    <a:pt x="959235" y="219710"/>
                  </a:cubicBezTo>
                  <a:cubicBezTo>
                    <a:pt x="959235" y="207010"/>
                    <a:pt x="952885" y="195580"/>
                    <a:pt x="941455" y="187960"/>
                  </a:cubicBezTo>
                  <a:close/>
                </a:path>
              </a:pathLst>
            </a:custGeom>
            <a:solidFill>
              <a:srgbClr val="FDFCF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3582082" y="8470324"/>
            <a:ext cx="388014" cy="173637"/>
            <a:chOff x="0" y="0"/>
            <a:chExt cx="959235" cy="429260"/>
          </a:xfrm>
        </p:grpSpPr>
        <p:sp>
          <p:nvSpPr>
            <p:cNvPr id="11" name="Freeform 11"/>
            <p:cNvSpPr/>
            <p:nvPr/>
          </p:nvSpPr>
          <p:spPr>
            <a:xfrm>
              <a:off x="0" y="-5080"/>
              <a:ext cx="959235" cy="434340"/>
            </a:xfrm>
            <a:custGeom>
              <a:avLst/>
              <a:gdLst/>
              <a:ahLst/>
              <a:cxnLst/>
              <a:rect l="l" t="t" r="r" b="b"/>
              <a:pathLst>
                <a:path w="959235" h="434340">
                  <a:moveTo>
                    <a:pt x="941455" y="187960"/>
                  </a:moveTo>
                  <a:lnTo>
                    <a:pt x="679835" y="11430"/>
                  </a:lnTo>
                  <a:cubicBezTo>
                    <a:pt x="662055" y="0"/>
                    <a:pt x="639195" y="3810"/>
                    <a:pt x="626495" y="21590"/>
                  </a:cubicBezTo>
                  <a:cubicBezTo>
                    <a:pt x="615065" y="39370"/>
                    <a:pt x="618875" y="62230"/>
                    <a:pt x="636655" y="74930"/>
                  </a:cubicBezTo>
                  <a:lnTo>
                    <a:pt x="795405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795405" y="257810"/>
                  </a:lnTo>
                  <a:lnTo>
                    <a:pt x="636655" y="364490"/>
                  </a:lnTo>
                  <a:cubicBezTo>
                    <a:pt x="618875" y="375920"/>
                    <a:pt x="615065" y="400050"/>
                    <a:pt x="626495" y="417830"/>
                  </a:cubicBezTo>
                  <a:cubicBezTo>
                    <a:pt x="634115" y="429260"/>
                    <a:pt x="645545" y="434340"/>
                    <a:pt x="658245" y="434340"/>
                  </a:cubicBezTo>
                  <a:cubicBezTo>
                    <a:pt x="665865" y="434340"/>
                    <a:pt x="673485" y="431800"/>
                    <a:pt x="679835" y="427990"/>
                  </a:cubicBezTo>
                  <a:lnTo>
                    <a:pt x="942725" y="251460"/>
                  </a:lnTo>
                  <a:cubicBezTo>
                    <a:pt x="952885" y="243840"/>
                    <a:pt x="959235" y="232410"/>
                    <a:pt x="959235" y="219710"/>
                  </a:cubicBezTo>
                  <a:cubicBezTo>
                    <a:pt x="959235" y="207010"/>
                    <a:pt x="952885" y="195580"/>
                    <a:pt x="941455" y="187960"/>
                  </a:cubicBezTo>
                  <a:close/>
                </a:path>
              </a:pathLst>
            </a:custGeom>
            <a:solidFill>
              <a:srgbClr val="FDFCF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836121" y="3327074"/>
            <a:ext cx="7592418" cy="5463430"/>
            <a:chOff x="0" y="0"/>
            <a:chExt cx="10123224" cy="728457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0"/>
              <a:ext cx="10123224" cy="15521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55"/>
                </a:lnSpc>
              </a:pPr>
              <a:r>
                <a:rPr lang="en-US" sz="3325">
                  <a:solidFill>
                    <a:srgbClr val="DD211D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Traditional Federated Learning (FedAvg)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15315"/>
              <a:ext cx="10123224" cy="5569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0"/>
                </a:lnSpc>
              </a:pPr>
              <a:r>
                <a:rPr lang="en-US" sz="2493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Clients train locally and send updates to a</a:t>
              </a:r>
              <a:r>
                <a:rPr lang="en-US" sz="2493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central server</a:t>
              </a:r>
              <a:r>
                <a:rPr lang="en-US" sz="2493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, which averages them into a global model. </a:t>
              </a:r>
            </a:p>
            <a:p>
              <a:pPr algn="l">
                <a:lnSpc>
                  <a:spcPts val="3740"/>
                </a:lnSpc>
              </a:pPr>
              <a:endParaRPr lang="en-US" sz="2493">
                <a:solidFill>
                  <a:srgbClr val="141414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algn="l">
                <a:lnSpc>
                  <a:spcPts val="3740"/>
                </a:lnSpc>
              </a:pPr>
              <a:r>
                <a:rPr lang="en-US" sz="2493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✅ Scalable, parallel training, and widely used in practice. </a:t>
              </a:r>
            </a:p>
            <a:p>
              <a:pPr algn="l">
                <a:lnSpc>
                  <a:spcPts val="3740"/>
                </a:lnSpc>
              </a:pPr>
              <a:r>
                <a:rPr lang="en-US" sz="2493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⚠️ Requires a server and can struggle with very different (non-IID) data.</a:t>
              </a:r>
            </a:p>
            <a:p>
              <a:pPr algn="l">
                <a:lnSpc>
                  <a:spcPts val="3740"/>
                </a:lnSpc>
              </a:pPr>
              <a:endParaRPr lang="en-US" sz="2493">
                <a:solidFill>
                  <a:srgbClr val="141414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785873" y="3767901"/>
            <a:ext cx="7592418" cy="4408140"/>
            <a:chOff x="0" y="0"/>
            <a:chExt cx="10123224" cy="587752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0"/>
              <a:ext cx="10123224" cy="767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55"/>
                </a:lnSpc>
              </a:pPr>
              <a:r>
                <a:rPr lang="en-US" sz="3325">
                  <a:solidFill>
                    <a:srgbClr val="DD211D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Cyclic Federated Learning (CFL)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30562"/>
              <a:ext cx="10123224" cy="4946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0"/>
                </a:lnSpc>
              </a:pPr>
              <a:r>
                <a:rPr lang="en-US" sz="2493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global model is passed </a:t>
              </a:r>
              <a:r>
                <a:rPr lang="en-US" sz="2493" b="1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client-to-client in a cycle</a:t>
              </a:r>
              <a:r>
                <a:rPr lang="en-US" sz="2493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, each site updating before handing it on. </a:t>
              </a:r>
            </a:p>
            <a:p>
              <a:pPr algn="l">
                <a:lnSpc>
                  <a:spcPts val="3740"/>
                </a:lnSpc>
              </a:pPr>
              <a:endParaRPr lang="en-US" sz="2493">
                <a:solidFill>
                  <a:srgbClr val="141414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algn="l">
                <a:lnSpc>
                  <a:spcPts val="3740"/>
                </a:lnSpc>
              </a:pPr>
              <a:r>
                <a:rPr lang="en-US" sz="2493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✅ No server required, simpler communication, fits decentralized settings. </a:t>
              </a:r>
            </a:p>
            <a:p>
              <a:pPr algn="l">
                <a:lnSpc>
                  <a:spcPts val="3740"/>
                </a:lnSpc>
              </a:pPr>
              <a:r>
                <a:rPr lang="en-US" sz="2493">
                  <a:solidFill>
                    <a:srgbClr val="14141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⚠️ Sequential (slower) and client order can influence results.</a:t>
              </a:r>
            </a:p>
            <a:p>
              <a:pPr algn="l">
                <a:lnSpc>
                  <a:spcPts val="3740"/>
                </a:lnSpc>
              </a:pPr>
              <a:endParaRPr lang="en-US" sz="2493">
                <a:solidFill>
                  <a:srgbClr val="141414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11591" y="3244104"/>
            <a:ext cx="7940982" cy="5937996"/>
            <a:chOff x="0" y="0"/>
            <a:chExt cx="31392793" cy="234744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392794" cy="23474462"/>
            </a:xfrm>
            <a:custGeom>
              <a:avLst/>
              <a:gdLst/>
              <a:ahLst/>
              <a:cxnLst/>
              <a:rect l="l" t="t" r="r" b="b"/>
              <a:pathLst>
                <a:path w="31392794" h="23474462">
                  <a:moveTo>
                    <a:pt x="0" y="0"/>
                  </a:moveTo>
                  <a:lnTo>
                    <a:pt x="0" y="23474462"/>
                  </a:lnTo>
                  <a:lnTo>
                    <a:pt x="31392794" y="23474462"/>
                  </a:lnTo>
                  <a:lnTo>
                    <a:pt x="31392794" y="0"/>
                  </a:lnTo>
                  <a:lnTo>
                    <a:pt x="0" y="0"/>
                  </a:lnTo>
                  <a:close/>
                  <a:moveTo>
                    <a:pt x="31331833" y="23413501"/>
                  </a:moveTo>
                  <a:lnTo>
                    <a:pt x="59690" y="23413501"/>
                  </a:lnTo>
                  <a:lnTo>
                    <a:pt x="59690" y="59690"/>
                  </a:lnTo>
                  <a:lnTo>
                    <a:pt x="31331833" y="59690"/>
                  </a:lnTo>
                  <a:lnTo>
                    <a:pt x="31331833" y="23413501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3689673" y="1588377"/>
            <a:ext cx="12001900" cy="136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>
                <a:solidFill>
                  <a:srgbClr val="141414"/>
                </a:solidFill>
                <a:latin typeface="Poppins Light"/>
                <a:ea typeface="Poppins Light"/>
                <a:cs typeface="Poppins Light"/>
                <a:sym typeface="Poppins Light"/>
              </a:rPr>
              <a:t>Federated Learning is a collaborative machine learning approach where multiple clients (devices or institutions) train a shared model without exchanging raw data.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03872" y="9163050"/>
            <a:ext cx="10148701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>
                <a:solidFill>
                  <a:srgbClr val="141414"/>
                </a:solidFill>
                <a:latin typeface="Poppins Light"/>
                <a:ea typeface="Poppins Light"/>
                <a:cs typeface="Poppins Light"/>
                <a:sym typeface="Poppins Light"/>
              </a:rPr>
              <a:t>McMahan et al., 2017 — [FedAvg Paper]</a:t>
            </a:r>
          </a:p>
          <a:p>
            <a:pPr algn="r">
              <a:lnSpc>
                <a:spcPts val="3600"/>
              </a:lnSpc>
            </a:pPr>
            <a:endParaRPr lang="en-US" sz="2400">
              <a:solidFill>
                <a:srgbClr val="14141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403872" y="9605010"/>
            <a:ext cx="10148701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>
                <a:solidFill>
                  <a:srgbClr val="141414"/>
                </a:solidFill>
                <a:latin typeface="Poppins Light"/>
                <a:ea typeface="Poppins Light"/>
                <a:cs typeface="Poppins Light"/>
                <a:sym typeface="Poppins Light"/>
              </a:rPr>
              <a:t>Pengyu et al., 2021 — [Cyclic FL]</a:t>
            </a:r>
          </a:p>
          <a:p>
            <a:pPr algn="r">
              <a:lnSpc>
                <a:spcPts val="3600"/>
              </a:lnSpc>
            </a:pPr>
            <a:endParaRPr lang="en-US" sz="2400">
              <a:solidFill>
                <a:srgbClr val="14141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2869" y="-546616"/>
            <a:ext cx="12962263" cy="1055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26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🧬 Client Data &amp; 🔄 Cyclic Federated Training</a:t>
            </a:r>
          </a:p>
          <a:p>
            <a:pPr algn="l">
              <a:lnSpc>
                <a:spcPts val="3600"/>
              </a:lnSpc>
            </a:pPr>
            <a:endParaRPr lang="en-US" sz="2600">
              <a:solidFill>
                <a:srgbClr val="FDFC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-Previous model  (XGBoost) used in training centralised model is implimented using exactly same 117 features.</a:t>
            </a:r>
          </a:p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FDFCFC"/>
                </a:solidFill>
                <a:latin typeface="Poppins Bold"/>
                <a:ea typeface="Poppins Bold"/>
                <a:cs typeface="Poppins Bold"/>
                <a:sym typeface="Poppins Bold"/>
              </a:rPr>
              <a:t>-Client Setup:</a:t>
            </a:r>
          </a:p>
          <a:p>
            <a:pPr marL="518162" lvl="1" indent="-259081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 Each client corresponds to a distinct metabolic phenotype — </a:t>
            </a:r>
            <a:r>
              <a:rPr lang="en-US" sz="2400" i="1">
                <a:solidFill>
                  <a:srgbClr val="FDFCF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Control, Crossover, Diabetic, and Prediabetic</a:t>
            </a: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 — derived from the composite glucose–insulin “Class” label.</a:t>
            </a:r>
          </a:p>
          <a:p>
            <a:pPr marL="1036323" lvl="2" indent="-345441" algn="l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Labels normalized and data split per class → one dataset per site.</a:t>
            </a:r>
          </a:p>
          <a:p>
            <a:pPr marL="1036323" lvl="2" indent="-345441" algn="l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Ensures biologically meaningful and site-specific federated clients.</a:t>
            </a: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FDFC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FDFCFC"/>
                </a:solidFill>
                <a:latin typeface="Poppins Bold"/>
                <a:ea typeface="Poppins Bold"/>
                <a:cs typeface="Poppins Bold"/>
                <a:sym typeface="Poppins Bold"/>
              </a:rPr>
              <a:t>-Federated Training:</a:t>
            </a:r>
          </a:p>
          <a:p>
            <a:pPr marL="518162" lvl="1" indent="-259081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 Uses a cyclic XGBoost scheme, where the global model is trained </a:t>
            </a:r>
            <a:r>
              <a:rPr lang="en-US" sz="2400" i="1">
                <a:solidFill>
                  <a:srgbClr val="FDFCF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sequentially</a:t>
            </a: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 across clients each round.</a:t>
            </a:r>
          </a:p>
          <a:p>
            <a:pPr marL="1036323" lvl="2" indent="-345441" algn="l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Each site performs local boosting, updates the shared global model, and passes it to the next site.</a:t>
            </a:r>
          </a:p>
          <a:p>
            <a:pPr marL="1036323" lvl="2" indent="-345441" algn="l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After each global cycle → evaluate on pooled validation data (log loss, accuracy).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-Final trained model saved as </a:t>
            </a:r>
            <a:r>
              <a:rPr lang="en-US" sz="2400" b="1">
                <a:solidFill>
                  <a:srgbClr val="FDFCFC"/>
                </a:solidFill>
                <a:latin typeface="Poppins Bold"/>
                <a:ea typeface="Poppins Bold"/>
                <a:cs typeface="Poppins Bold"/>
                <a:sym typeface="Poppins Bold"/>
              </a:rPr>
              <a:t>global_bst</a:t>
            </a: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400" b="1">
                <a:solidFill>
                  <a:srgbClr val="FDFCFC"/>
                </a:solidFill>
                <a:latin typeface="Poppins Bold"/>
                <a:ea typeface="Poppins Bold"/>
                <a:cs typeface="Poppins Bold"/>
                <a:sym typeface="Poppins Bold"/>
              </a:rPr>
              <a:t>json</a:t>
            </a:r>
          </a:p>
          <a:p>
            <a:pPr algn="l">
              <a:lnSpc>
                <a:spcPts val="3600"/>
              </a:lnSpc>
            </a:pPr>
            <a:endParaRPr lang="en-US" sz="2400" b="1">
              <a:solidFill>
                <a:srgbClr val="FDFCFC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-Use the model for inference on test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-Results: CV:</a:t>
            </a:r>
            <a:r>
              <a:rPr lang="en-US" sz="2400" b="1">
                <a:solidFill>
                  <a:srgbClr val="FDFCFC"/>
                </a:solidFill>
                <a:latin typeface="Poppins Bold"/>
                <a:ea typeface="Poppins Bold"/>
                <a:cs typeface="Poppins Bold"/>
                <a:sym typeface="Poppins Bold"/>
              </a:rPr>
              <a:t>0.0281</a:t>
            </a: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,Public.L  </a:t>
            </a:r>
            <a:r>
              <a:rPr lang="en-US" sz="2400" b="1">
                <a:solidFill>
                  <a:srgbClr val="FDFCFC"/>
                </a:solidFill>
                <a:latin typeface="Poppins Bold"/>
                <a:ea typeface="Poppins Bold"/>
                <a:cs typeface="Poppins Bold"/>
                <a:sym typeface="Poppins Bold"/>
              </a:rPr>
              <a:t>0.0018</a:t>
            </a:r>
            <a:r>
              <a:rPr lang="en-US" sz="2400">
                <a:solidFill>
                  <a:srgbClr val="FDFCFC"/>
                </a:solidFill>
                <a:latin typeface="Poppins"/>
                <a:ea typeface="Poppins"/>
                <a:cs typeface="Poppins"/>
                <a:sym typeface="Poppins"/>
              </a:rPr>
              <a:t>, Private.L </a:t>
            </a:r>
            <a:r>
              <a:rPr lang="en-US" sz="2400" b="1">
                <a:solidFill>
                  <a:srgbClr val="FDFCFC"/>
                </a:solidFill>
                <a:latin typeface="Poppins Bold"/>
                <a:ea typeface="Poppins Bold"/>
                <a:cs typeface="Poppins Bold"/>
                <a:sym typeface="Poppins Bold"/>
              </a:rPr>
              <a:t>0.015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solidFill>
            <a:srgbClr val="FDFCFC"/>
          </a:solidFill>
        </p:spPr>
      </p:sp>
      <p:grpSp>
        <p:nvGrpSpPr>
          <p:cNvPr id="5" name="Group 5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6" name="AutoShape 6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7" name="AutoShape 7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2206107" y="1569211"/>
            <a:ext cx="10125016" cy="1721644"/>
            <a:chOff x="0" y="0"/>
            <a:chExt cx="13500022" cy="229552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13499628" cy="15132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40"/>
                </a:lnSpc>
              </a:pPr>
              <a:r>
                <a:rPr lang="en-US" sz="7200" b="1" dirty="0">
                  <a:solidFill>
                    <a:srgbClr val="DD211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</a:t>
              </a:r>
              <a:r>
                <a:rPr lang="en-US" sz="7200" b="1" dirty="0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0" y="1614884"/>
              <a:ext cx="13499632" cy="680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 dirty="0">
                  <a:solidFill>
                    <a:srgbClr val="14141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Julius M.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1566" y="0"/>
            <a:ext cx="142711" cy="10287000"/>
            <a:chOff x="0" y="0"/>
            <a:chExt cx="190282" cy="13716000"/>
          </a:xfrm>
        </p:grpSpPr>
        <p:sp>
          <p:nvSpPr>
            <p:cNvPr id="13" name="AutoShape 13"/>
            <p:cNvSpPr/>
            <p:nvPr/>
          </p:nvSpPr>
          <p:spPr>
            <a:xfrm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768</Words>
  <Application>Microsoft Office PowerPoint</Application>
  <PresentationFormat>Custom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Poppins Light</vt:lpstr>
      <vt:lpstr>Poppins Italics</vt:lpstr>
      <vt:lpstr>Poppins</vt:lpstr>
      <vt:lpstr>Poppins Bold</vt:lpstr>
      <vt:lpstr>Poppins Light Italics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Julius M.-FREELANCE DATA SCIENTIST</dc:title>
  <cp:lastModifiedBy>Julius Maina</cp:lastModifiedBy>
  <cp:revision>2</cp:revision>
  <dcterms:created xsi:type="dcterms:W3CDTF">2006-08-16T00:00:00Z</dcterms:created>
  <dcterms:modified xsi:type="dcterms:W3CDTF">2025-10-10T13:56:33Z</dcterms:modified>
  <dc:identifier>DAG1XZ-VwPk</dc:identifier>
</cp:coreProperties>
</file>